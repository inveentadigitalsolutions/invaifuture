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1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US$ miles de millones</c:v>
                </c:pt>
              </c:strCache>
            </c:strRef>
          </c:tx>
          <c:spPr>
            <a:solidFill>
              <a:srgbClr val="C49A3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14352A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Agricultura de precisión (2030)</c:v>
                  </c:pt>
                  <c:pt idx="1">
                    <c:v>IA en agricultura (2030)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24</c:v>
                </c:pt>
                <c:pt idx="1">
                  <c:v>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300" u="none">
                  <a:solidFill>
                    <a:srgbClr val="14352A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8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E7A72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BF9F3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35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49A3F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13716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C49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UNIVERSIDAD ZAMORANO · DELEGACIÓN EUROPA 2026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49808" y="2194560"/>
            <a:ext cx="106070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800" b="1" dirty="0">
                <a:solidFill>
                  <a:srgbClr val="F4F0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 presente tecnológico</a:t>
            </a:r>
            <a:endParaRPr lang="en-US" sz="58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5800" b="1" dirty="0">
                <a:solidFill>
                  <a:srgbClr val="F4F0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 su potencial</a:t>
            </a:r>
            <a:endParaRPr lang="en-US" sz="5800" dirty="0"/>
          </a:p>
        </p:txBody>
      </p:sp>
      <p:sp>
        <p:nvSpPr>
          <p:cNvPr id="5" name="Text 3"/>
          <p:cNvSpPr/>
          <p:nvPr/>
        </p:nvSpPr>
        <p:spPr>
          <a:xfrm>
            <a:off x="777240" y="475488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C7D3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Dónde estamos, qué impacto tiene, y hacia dónde se dirige la tecnología.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77240" y="63825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FB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Universidad Zamorano · Delegación Europa 2026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771632" y="638251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435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49A3F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234440"/>
            <a:ext cx="54864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0" b="1" dirty="0">
                <a:solidFill>
                  <a:srgbClr val="C49A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4000" dirty="0"/>
          </a:p>
        </p:txBody>
      </p:sp>
      <p:sp>
        <p:nvSpPr>
          <p:cNvPr id="4" name="Text 2"/>
          <p:cNvSpPr/>
          <p:nvPr/>
        </p:nvSpPr>
        <p:spPr>
          <a:xfrm>
            <a:off x="777240" y="3794760"/>
            <a:ext cx="10424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4F0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Dónde estamos hoy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777240" y="4846320"/>
            <a:ext cx="9692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C7D3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inteligencia artificial pasó de promesa a infraestructura en menos de tres años.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77240" y="63825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FB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Universidad Zamorano · Delegación Europa 2026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771632" y="638251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9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658368"/>
            <a:ext cx="237744" cy="237744"/>
          </a:xfrm>
          <a:prstGeom prst="rect">
            <a:avLst/>
          </a:prstGeom>
          <a:solidFill>
            <a:srgbClr val="C49A3F"/>
          </a:solidFill>
          <a:ln/>
        </p:spPr>
      </p:sp>
      <p:sp>
        <p:nvSpPr>
          <p:cNvPr id="3" name="Text 1"/>
          <p:cNvSpPr/>
          <p:nvPr/>
        </p:nvSpPr>
        <p:spPr>
          <a:xfrm>
            <a:off x="1161288" y="64008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9C7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QUIÉN LLEVA LA BATUTA · I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777240" y="1078992"/>
            <a:ext cx="10698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1435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Los pioneros de la inteligencia artificial</a:t>
            </a:r>
            <a:endParaRPr lang="en-US" sz="31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2148840"/>
          <a:ext cx="10634472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5120640"/>
                <a:gridCol w="2743200"/>
              </a:tblGrid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4F0E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Compañía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D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5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4F0E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Qué construye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D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5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4F0E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D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52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E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NVIDIA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0D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E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Infraestructura de cómputo de la IA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0D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9C7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US$5 billones · valor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0D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E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OpenAI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0D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E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ChatGPT, la adopción más rápida de la historia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0D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9C7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900 M / semana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0D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E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Anthropic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0D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E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IA segura para la empresa (Claude)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0D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9C7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470 mil empleados (Deloitte)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0D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E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Google DeepMind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0D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E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AlphaFold: IA que predice las proteínas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0D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9C7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Premio Nobel 2024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0D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E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Meta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0D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E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IA abierta (Llama) y el asistente Meta AI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0D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9C7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~1.200 M de usuarios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0D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777240" y="59893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6E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Fuentes: NVIDIA, OpenAI, Anthropic, Google DeepMind, Meta (2024–2026).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777240" y="63825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6E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Universidad Zamorano · Delegación Europa 2026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0771632" y="638251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9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658368"/>
            <a:ext cx="237744" cy="237744"/>
          </a:xfrm>
          <a:prstGeom prst="rect">
            <a:avLst/>
          </a:prstGeom>
          <a:solidFill>
            <a:srgbClr val="C49A3F"/>
          </a:solidFill>
          <a:ln/>
        </p:spPr>
      </p:sp>
      <p:sp>
        <p:nvSpPr>
          <p:cNvPr id="3" name="Text 1"/>
          <p:cNvSpPr/>
          <p:nvPr/>
        </p:nvSpPr>
        <p:spPr>
          <a:xfrm>
            <a:off x="1161288" y="64008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9C7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QUIÉN LLEVA LA BATUTA · II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777240" y="1078992"/>
            <a:ext cx="10698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1435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 la nube al espacio: la frontera tecnológica</a:t>
            </a:r>
            <a:endParaRPr lang="en-US" sz="31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2148840"/>
          <a:ext cx="10634472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5120640"/>
                <a:gridCol w="2743200"/>
              </a:tblGrid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4F0E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Compañía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D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5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4F0E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Qué construye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D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5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4F0E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D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52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E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Microsoft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0D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E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Copilot e IA agéntica en el trabajo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0D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9C7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80 % del Fortune 500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0D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E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Amazon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0D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E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Nube e IA (AWS) y robótica logística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0D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9C7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 millón de robots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0D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E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Palantir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0D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E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 datos dispersos a decisiones (AIP)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0D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9C7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+121 % interanual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0D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E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Tesla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0D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E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Conducción autónoma y robótica (Optimus)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0D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9C7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Datos de flota a escala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0D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E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SpaceX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0D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E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Cohetes reutilizables y Starlink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0D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9C7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+10.000 satélites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0D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777240" y="59893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6E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Fuentes: Microsoft, Amazon, Palantir, Tesla, SpaceX (2024–2026).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777240" y="63825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6E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Universidad Zamorano · Delegación Europa 2026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0771632" y="638251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9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658368"/>
            <a:ext cx="237744" cy="237744"/>
          </a:xfrm>
          <a:prstGeom prst="rect">
            <a:avLst/>
          </a:prstGeom>
          <a:solidFill>
            <a:srgbClr val="C49A3F"/>
          </a:solidFill>
          <a:ln/>
        </p:spPr>
      </p:sp>
      <p:sp>
        <p:nvSpPr>
          <p:cNvPr id="3" name="Text 1"/>
          <p:cNvSpPr/>
          <p:nvPr/>
        </p:nvSpPr>
        <p:spPr>
          <a:xfrm>
            <a:off x="1161288" y="64008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9C7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ESCALA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777240" y="1078992"/>
            <a:ext cx="10698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1435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 cambio, en cuatro cifras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777240" y="2331720"/>
            <a:ext cx="2542032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9C8"/>
            </a:solidFill>
            <a:prstDash val="solid"/>
          </a:ln>
          <a:effectLst>
            <a:outerShdw sx="100000" sy="100000" kx="0" ky="0" algn="bl" rotWithShape="0" blurRad="1143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05840" y="2478024"/>
            <a:ext cx="2084832" cy="476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9C7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US$4.4 B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005840" y="2972816"/>
            <a:ext cx="2084832" cy="1123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E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Impacto anual potencial de la IA en la economía (McKinsey)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566160" y="2331720"/>
            <a:ext cx="2542032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9C8"/>
            </a:solidFill>
            <a:prstDash val="solid"/>
          </a:ln>
          <a:effectLst>
            <a:outerShdw sx="100000" sy="100000" kx="0" ky="0" algn="bl" rotWithShape="0" blurRad="1143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794760" y="2478024"/>
            <a:ext cx="2084832" cy="476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435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900 M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3794760" y="2972816"/>
            <a:ext cx="2084832" cy="1123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E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Usan ChatGPT cada semana — adopción récord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355080" y="2331720"/>
            <a:ext cx="2542032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9C8"/>
            </a:solidFill>
            <a:prstDash val="solid"/>
          </a:ln>
          <a:effectLst>
            <a:outerShdw sx="100000" sy="100000" kx="0" ky="0" algn="bl" rotWithShape="0" blurRad="1143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583680" y="2478024"/>
            <a:ext cx="2084832" cy="476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435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US$5 B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6583680" y="2972816"/>
            <a:ext cx="2084832" cy="1123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E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 de NVIDIA, la empresa más valiosa del mundo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44000" y="2331720"/>
            <a:ext cx="2542032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9C8"/>
            </a:solidFill>
            <a:prstDash val="solid"/>
          </a:ln>
          <a:effectLst>
            <a:outerShdw sx="100000" sy="100000" kx="0" ky="0" algn="bl" rotWithShape="0" blurRad="1143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372600" y="2478024"/>
            <a:ext cx="2084832" cy="4130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9C7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Nobel 2024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9372600" y="2909316"/>
            <a:ext cx="2084832" cy="11871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E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Primer Premio Nobel a una IA científica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77240" y="452628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i="1" dirty="0">
                <a:solidFill>
                  <a:srgbClr val="6E8B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 tecnología dejó de ser futuro: ya es la base sobre la que opera la economía.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777240" y="63825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6E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Universidad Zamorano · Delegación Europa 2026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771632" y="638251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9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658368"/>
            <a:ext cx="237744" cy="237744"/>
          </a:xfrm>
          <a:prstGeom prst="rect">
            <a:avLst/>
          </a:prstGeom>
          <a:solidFill>
            <a:srgbClr val="C49A3F"/>
          </a:solidFill>
          <a:ln/>
        </p:spPr>
      </p:sp>
      <p:sp>
        <p:nvSpPr>
          <p:cNvPr id="3" name="Text 1"/>
          <p:cNvSpPr/>
          <p:nvPr/>
        </p:nvSpPr>
        <p:spPr>
          <a:xfrm>
            <a:off x="1161288" y="64008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9C7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IMPACTO ECONÓMICO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777240" y="1078992"/>
            <a:ext cx="10698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1435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 motor de valor de la próxima década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777240" y="2331720"/>
            <a:ext cx="3346704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9C8"/>
            </a:solidFill>
            <a:prstDash val="solid"/>
          </a:ln>
          <a:effectLst>
            <a:outerShdw sx="100000" sy="100000" kx="0" ky="0" algn="bl" rotWithShape="0" blurRad="1143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05840" y="2478024"/>
            <a:ext cx="2889504" cy="552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C7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US$4.4 B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1005840" y="3049016"/>
            <a:ext cx="2889504" cy="1001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E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 anual que la IA podría sumar a la economía global (McKinsey)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407408" y="2331720"/>
            <a:ext cx="3346704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9C8"/>
            </a:solidFill>
            <a:prstDash val="solid"/>
          </a:ln>
          <a:effectLst>
            <a:outerShdw sx="100000" sy="100000" kx="0" ky="0" algn="bl" rotWithShape="0" blurRad="1143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636008" y="2478024"/>
            <a:ext cx="2889504" cy="552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435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75 %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4636008" y="3049016"/>
            <a:ext cx="2889504" cy="1001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E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valor se concentra en operaciones, ventas, software e I+D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037576" y="2331720"/>
            <a:ext cx="3346704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9C8"/>
            </a:solidFill>
            <a:prstDash val="solid"/>
          </a:ln>
          <a:effectLst>
            <a:outerShdw sx="100000" sy="100000" kx="0" ky="0" algn="bl" rotWithShape="0" blurRad="1143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266176" y="2478024"/>
            <a:ext cx="2889504" cy="527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435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hasta +0.6 %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8266176" y="3023616"/>
            <a:ext cx="2889504" cy="1027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E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productividad laboral adicional por año (McKinsey)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77240" y="452628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i="1" dirty="0">
                <a:solidFill>
                  <a:srgbClr val="6E8B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 valor aparece donde hay procesos repetibles y datos para aprovechar.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777240" y="59893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6E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McKinsey, “The economic potential of generative AI”.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77240" y="63825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6E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Universidad Zamorano · Delegación Europa 2026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0771632" y="638251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9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658368"/>
            <a:ext cx="237744" cy="237744"/>
          </a:xfrm>
          <a:prstGeom prst="rect">
            <a:avLst/>
          </a:prstGeom>
          <a:solidFill>
            <a:srgbClr val="C49A3F"/>
          </a:solidFill>
          <a:ln/>
        </p:spPr>
      </p:sp>
      <p:sp>
        <p:nvSpPr>
          <p:cNvPr id="3" name="Text 1"/>
          <p:cNvSpPr/>
          <p:nvPr/>
        </p:nvSpPr>
        <p:spPr>
          <a:xfrm>
            <a:off x="1161288" y="64008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9C7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EFICIENCIA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777240" y="1078992"/>
            <a:ext cx="10698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1435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Hacer más, mejor y con menos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777240" y="2331720"/>
            <a:ext cx="3346704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9C8"/>
            </a:solidFill>
            <a:prstDash val="solid"/>
          </a:ln>
          <a:effectLst>
            <a:outerShdw sx="100000" sy="100000" kx="0" ky="0" algn="bl" rotWithShape="0" blurRad="1143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05840" y="2478024"/>
            <a:ext cx="2889504" cy="552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C7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+55 %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1005840" y="3049016"/>
            <a:ext cx="2889504" cy="1001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E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rápido en programación con asistentes de IA (GitHub Copilot)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407408" y="2331720"/>
            <a:ext cx="3346704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9C8"/>
            </a:solidFill>
            <a:prstDash val="solid"/>
          </a:ln>
          <a:effectLst>
            <a:outerShdw sx="100000" sy="100000" kx="0" ky="0" algn="bl" rotWithShape="0" blurRad="1143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636008" y="2478024"/>
            <a:ext cx="2889504" cy="552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435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+40 %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4636008" y="3049016"/>
            <a:ext cx="2889504" cy="1001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E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 calidad del trabajo en tareas de consultoría (estudio BCG)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037576" y="2331720"/>
            <a:ext cx="3346704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9C8"/>
            </a:solidFill>
            <a:prstDash val="solid"/>
          </a:ln>
          <a:effectLst>
            <a:outerShdw sx="100000" sy="100000" kx="0" ky="0" algn="bl" rotWithShape="0" blurRad="1143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266176" y="2478024"/>
            <a:ext cx="2889504" cy="552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435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−60 %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8266176" y="3049016"/>
            <a:ext cx="2889504" cy="1001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E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Menos tiempo de respuesta agronómica con IA (Bayer, E.L.Y.)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77240" y="452628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i="1" dirty="0">
                <a:solidFill>
                  <a:srgbClr val="6E8B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 IA no solo acelera: eleva la calidad y libera tiempo para lo que exige criterio.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777240" y="59893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6E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Fuentes: MIT/GitHub Copilot (2024); BCG (2023); Bayer (2025).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77240" y="63825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6E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Universidad Zamorano · Delegación Europa 2026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0771632" y="638251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9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658368"/>
            <a:ext cx="237744" cy="237744"/>
          </a:xfrm>
          <a:prstGeom prst="rect">
            <a:avLst/>
          </a:prstGeom>
          <a:solidFill>
            <a:srgbClr val="C49A3F"/>
          </a:solidFill>
          <a:ln/>
        </p:spPr>
      </p:sp>
      <p:sp>
        <p:nvSpPr>
          <p:cNvPr id="3" name="Text 1"/>
          <p:cNvSpPr/>
          <p:nvPr/>
        </p:nvSpPr>
        <p:spPr>
          <a:xfrm>
            <a:off x="1161288" y="64008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9C7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IA Y LA CIENCIA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777240" y="1078992"/>
            <a:ext cx="10698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1435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Cuando la ciencia y la IA se encuentran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777240" y="2240280"/>
            <a:ext cx="51206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435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AlphaFold resolvió en minutos un problema que tomaba años: la estructura de las proteínas.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6309360" y="2148840"/>
            <a:ext cx="507492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0D9C8"/>
            </a:solidFill>
            <a:prstDash val="solid"/>
          </a:ln>
          <a:effectLst>
            <a:outerShdw sx="100000" sy="100000" kx="0" ky="0" algn="bl" rotWithShape="0" blurRad="1143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537960" y="2295144"/>
            <a:ext cx="461772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435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200 M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6537960" y="2802636"/>
            <a:ext cx="4617720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E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Estructuras de proteínas predichas con IA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309360" y="3429000"/>
            <a:ext cx="507492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0D9C8"/>
            </a:solidFill>
            <a:prstDash val="solid"/>
          </a:ln>
          <a:effectLst>
            <a:outerShdw sx="100000" sy="100000" kx="0" ky="0" algn="bl" rotWithShape="0" blurRad="1143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537960" y="3575304"/>
            <a:ext cx="461772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435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 M+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6537960" y="4082796"/>
            <a:ext cx="4617720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E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Investigadores en 190 países la utilizan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309360" y="4709160"/>
            <a:ext cx="507492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0D9C8"/>
            </a:solidFill>
            <a:prstDash val="solid"/>
          </a:ln>
          <a:effectLst>
            <a:outerShdw sx="100000" sy="100000" kx="0" ky="0" algn="bl" rotWithShape="0" blurRad="1143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537960" y="4855464"/>
            <a:ext cx="461772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9C7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Nobel 2024</a:t>
            </a:r>
            <a:endParaRPr lang="en-US" sz="2700" dirty="0"/>
          </a:p>
        </p:txBody>
      </p:sp>
      <p:sp>
        <p:nvSpPr>
          <p:cNvPr id="14" name="Text 12"/>
          <p:cNvSpPr/>
          <p:nvPr/>
        </p:nvSpPr>
        <p:spPr>
          <a:xfrm>
            <a:off x="6537960" y="5362956"/>
            <a:ext cx="4617720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E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Química — Google DeepMind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77240" y="59893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6E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NobelPrize.org (2024).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77240" y="63825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6E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Universidad Zamorano · Delegación Europa 2026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0771632" y="638251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35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49A3F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234440"/>
            <a:ext cx="54864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0" b="1" dirty="0">
                <a:solidFill>
                  <a:srgbClr val="C49A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4000" dirty="0"/>
          </a:p>
        </p:txBody>
      </p:sp>
      <p:sp>
        <p:nvSpPr>
          <p:cNvPr id="4" name="Text 2"/>
          <p:cNvSpPr/>
          <p:nvPr/>
        </p:nvSpPr>
        <p:spPr>
          <a:xfrm>
            <a:off x="777240" y="3794760"/>
            <a:ext cx="10424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4F0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Hacia dónde vamos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777240" y="4846320"/>
            <a:ext cx="9692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C7D3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próxima ola: sistemas que no solo informan — deciden y actúan.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77240" y="63825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FB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Universidad Zamorano · Delegación Europa 2026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771632" y="638251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9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658368"/>
            <a:ext cx="237744" cy="237744"/>
          </a:xfrm>
          <a:prstGeom prst="rect">
            <a:avLst/>
          </a:prstGeom>
          <a:solidFill>
            <a:srgbClr val="C49A3F"/>
          </a:solidFill>
          <a:ln/>
        </p:spPr>
      </p:sp>
      <p:sp>
        <p:nvSpPr>
          <p:cNvPr id="3" name="Text 1"/>
          <p:cNvSpPr/>
          <p:nvPr/>
        </p:nvSpPr>
        <p:spPr>
          <a:xfrm>
            <a:off x="1161288" y="64008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9C7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FUTURO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777240" y="1078992"/>
            <a:ext cx="10698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1435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 IA agéntica: del asistente al agente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777240" y="2331720"/>
            <a:ext cx="3346704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9C8"/>
            </a:solidFill>
            <a:prstDash val="solid"/>
          </a:ln>
          <a:effectLst>
            <a:outerShdw sx="100000" sy="100000" kx="0" ky="0" algn="bl" rotWithShape="0" blurRad="1143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05840" y="2478024"/>
            <a:ext cx="2889504" cy="552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C7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40 %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1005840" y="3049016"/>
            <a:ext cx="2889504" cy="1001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E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las apps empresariales tendrán agentes de IA para fin de 2026 (desde &lt;5 %)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407408" y="2331720"/>
            <a:ext cx="3346704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9C8"/>
            </a:solidFill>
            <a:prstDash val="solid"/>
          </a:ln>
          <a:effectLst>
            <a:outerShdw sx="100000" sy="100000" kx="0" ky="0" algn="bl" rotWithShape="0" blurRad="1143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636008" y="2478024"/>
            <a:ext cx="2889504" cy="527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435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US$206 B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4636008" y="3023616"/>
            <a:ext cx="2889504" cy="1027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E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Gasto mundial en software de agentes de IA en 2026 (Gartner)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037576" y="2331720"/>
            <a:ext cx="3346704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9C8"/>
            </a:solidFill>
            <a:prstDash val="solid"/>
          </a:ln>
          <a:effectLst>
            <a:outerShdw sx="100000" sy="100000" kx="0" ky="0" algn="bl" rotWithShape="0" blurRad="1143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266176" y="2478024"/>
            <a:ext cx="2889504" cy="552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435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60 %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8266176" y="3049016"/>
            <a:ext cx="2889504" cy="1001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E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las organizaciones desplegará agentes en los próximos 2 años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77240" y="452628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i="1" dirty="0">
                <a:solidFill>
                  <a:srgbClr val="6E8B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 que viene no es una herramienta más: es software que razona, decide y ejecuta.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777240" y="59893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6E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Gartner (2025–2026).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77240" y="63825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6E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Universidad Zamorano · Delegación Europa 2026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0771632" y="638251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BF9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658368"/>
            <a:ext cx="237744" cy="237744"/>
          </a:xfrm>
          <a:prstGeom prst="rect">
            <a:avLst/>
          </a:prstGeom>
          <a:solidFill>
            <a:srgbClr val="C49A3F"/>
          </a:solidFill>
          <a:ln/>
        </p:spPr>
      </p:sp>
      <p:sp>
        <p:nvSpPr>
          <p:cNvPr id="3" name="Text 1"/>
          <p:cNvSpPr/>
          <p:nvPr/>
        </p:nvSpPr>
        <p:spPr>
          <a:xfrm>
            <a:off x="1161288" y="64008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9C7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AGRICULTURA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777240" y="1078992"/>
            <a:ext cx="10698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1435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Los pioneros del agro</a:t>
            </a:r>
            <a:endParaRPr lang="en-US" sz="31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2148840"/>
          <a:ext cx="10634472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5303520"/>
                <a:gridCol w="2743200"/>
              </a:tblGrid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4F0E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Compañía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D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5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4F0E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Qué construye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D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5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4F0E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D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52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E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John Deere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0D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E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Tractores autónomos y “See &amp; Spray” con IA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0D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9C7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100 % autónomo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0D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E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Bayer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0D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E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“E.L.Y.”, IA generativa para la agronomía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0D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9C7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−60 % tiempo de respuesta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0D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E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Syngenta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0D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E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Cropwise AI, asesor agronómico generativo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0D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9C7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+5 % rendimiento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0D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E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Lely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0D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E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Robots de ordeño + plataforma de datos Horizon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0D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9C7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Datos → decisión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0D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E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SAP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0D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E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ERP con IA agéntica integrada (Joule)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0D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9C7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IA en el ERP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0D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777240" y="59893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6E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Fuentes: John Deere (CES 2025), Bayer, Syngenta, Lely, SAP (2024–2025).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777240" y="63825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6E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Universidad Zamorano · Delegación Europa 2026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0771632" y="638251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BF9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658368"/>
            <a:ext cx="237744" cy="237744"/>
          </a:xfrm>
          <a:prstGeom prst="rect">
            <a:avLst/>
          </a:prstGeom>
          <a:solidFill>
            <a:srgbClr val="C49A3F"/>
          </a:solidFill>
          <a:ln/>
        </p:spPr>
      </p:sp>
      <p:sp>
        <p:nvSpPr>
          <p:cNvPr id="3" name="Text 1"/>
          <p:cNvSpPr/>
          <p:nvPr/>
        </p:nvSpPr>
        <p:spPr>
          <a:xfrm>
            <a:off x="1161288" y="64008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9C7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MERCADO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777240" y="1078992"/>
            <a:ext cx="10698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1435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 inversión sigue la dirección</a:t>
            </a:r>
            <a:endParaRPr lang="en-US" sz="31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777240" y="2240280"/>
          <a:ext cx="658368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7955280" y="2331720"/>
            <a:ext cx="3456432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9C8"/>
            </a:solidFill>
            <a:prstDash val="solid"/>
          </a:ln>
          <a:effectLst>
            <a:outerShdw sx="100000" sy="100000" kx="0" ky="0" algn="bl" rotWithShape="0" blurRad="1143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183880" y="2478024"/>
            <a:ext cx="2999232" cy="527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435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+13 % CAGR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8183880" y="3023616"/>
            <a:ext cx="2999232" cy="661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E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Agricultura de precisión, 2025–2030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7955280" y="3977640"/>
            <a:ext cx="3456432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9C8"/>
            </a:solidFill>
            <a:prstDash val="solid"/>
          </a:ln>
          <a:effectLst>
            <a:outerShdw sx="100000" sy="100000" kx="0" ky="0" algn="bl" rotWithShape="0" blurRad="1143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8183880" y="4123944"/>
            <a:ext cx="2999232" cy="527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9C7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+23 % CAGR</a:t>
            </a:r>
            <a:endParaRPr lang="en-US" sz="3000" dirty="0"/>
          </a:p>
        </p:txBody>
      </p:sp>
      <p:sp>
        <p:nvSpPr>
          <p:cNvPr id="11" name="Text 8"/>
          <p:cNvSpPr/>
          <p:nvPr/>
        </p:nvSpPr>
        <p:spPr>
          <a:xfrm>
            <a:off x="8183880" y="4669536"/>
            <a:ext cx="2999232" cy="661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E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en agricultura, hacia 2030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777240" y="59893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6E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Fuentes: Grand View Research; MarketsandMarkets (2025).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777240" y="63825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6E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Universidad Zamorano · Delegación Europa 2026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0771632" y="638251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435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49A3F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234440"/>
            <a:ext cx="54864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0" b="1" dirty="0">
                <a:solidFill>
                  <a:srgbClr val="C49A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4000" dirty="0"/>
          </a:p>
        </p:txBody>
      </p:sp>
      <p:sp>
        <p:nvSpPr>
          <p:cNvPr id="4" name="Text 2"/>
          <p:cNvSpPr/>
          <p:nvPr/>
        </p:nvSpPr>
        <p:spPr>
          <a:xfrm>
            <a:off x="777240" y="3794760"/>
            <a:ext cx="10424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4F0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Cómo mantenerse a la vanguardia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777240" y="4846320"/>
            <a:ext cx="9692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C7D3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tecnología está al alcance de todos; la ventaja está en cómo se usa.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77240" y="63825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FB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Universidad Zamorano · Delegación Europa 2026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771632" y="638251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BF9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658368"/>
            <a:ext cx="237744" cy="237744"/>
          </a:xfrm>
          <a:prstGeom prst="rect">
            <a:avLst/>
          </a:prstGeom>
          <a:solidFill>
            <a:srgbClr val="C49A3F"/>
          </a:solidFill>
          <a:ln/>
        </p:spPr>
      </p:sp>
      <p:sp>
        <p:nvSpPr>
          <p:cNvPr id="3" name="Text 1"/>
          <p:cNvSpPr/>
          <p:nvPr/>
        </p:nvSpPr>
        <p:spPr>
          <a:xfrm>
            <a:off x="1161288" y="64008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9C7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BASTA CON ADOPTAR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777240" y="1078992"/>
            <a:ext cx="10698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1435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 que distingue a quienes lideran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777240" y="2240280"/>
            <a:ext cx="2473452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9C8"/>
            </a:solidFill>
            <a:prstDash val="solid"/>
          </a:ln>
          <a:effectLst>
            <a:outerShdw sx="100000" sy="100000" kx="0" ky="0" algn="bl" rotWithShape="0" blurRad="1143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51560" y="2532888"/>
            <a:ext cx="475488" cy="475488"/>
          </a:xfrm>
          <a:prstGeom prst="ellipse">
            <a:avLst/>
          </a:prstGeom>
          <a:solidFill>
            <a:srgbClr val="14352A"/>
          </a:solidFill>
          <a:ln/>
        </p:spPr>
      </p:sp>
      <p:sp>
        <p:nvSpPr>
          <p:cNvPr id="7" name="Text 5"/>
          <p:cNvSpPr/>
          <p:nvPr/>
        </p:nvSpPr>
        <p:spPr>
          <a:xfrm>
            <a:off x="1051560" y="253288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49A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51560" y="3172968"/>
            <a:ext cx="197053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435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Innovar, no copiar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51560" y="3904488"/>
            <a:ext cx="19705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6E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Partir de la visión y las preguntas propias, no de la moda.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497580" y="2240280"/>
            <a:ext cx="2473452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9C8"/>
            </a:solidFill>
            <a:prstDash val="solid"/>
          </a:ln>
          <a:effectLst>
            <a:outerShdw sx="100000" sy="100000" kx="0" ky="0" algn="bl" rotWithShape="0" blurRad="1143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771900" y="2532888"/>
            <a:ext cx="475488" cy="475488"/>
          </a:xfrm>
          <a:prstGeom prst="ellipse">
            <a:avLst/>
          </a:prstGeom>
          <a:solidFill>
            <a:srgbClr val="14352A"/>
          </a:solidFill>
          <a:ln/>
        </p:spPr>
      </p:sp>
      <p:sp>
        <p:nvSpPr>
          <p:cNvPr id="12" name="Text 10"/>
          <p:cNvSpPr/>
          <p:nvPr/>
        </p:nvSpPr>
        <p:spPr>
          <a:xfrm>
            <a:off x="3771900" y="253288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49A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771900" y="3172968"/>
            <a:ext cx="197053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435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Datos confiables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771900" y="3904488"/>
            <a:ext cx="19705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6E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propios, completos y ordenados: el combustible de la IA.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217920" y="2240280"/>
            <a:ext cx="2473452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9C8"/>
            </a:solidFill>
            <a:prstDash val="solid"/>
          </a:ln>
          <a:effectLst>
            <a:outerShdw sx="100000" sy="100000" kx="0" ky="0" algn="bl" rotWithShape="0" blurRad="1143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492240" y="2532888"/>
            <a:ext cx="475488" cy="475488"/>
          </a:xfrm>
          <a:prstGeom prst="ellipse">
            <a:avLst/>
          </a:prstGeom>
          <a:solidFill>
            <a:srgbClr val="14352A"/>
          </a:solidFill>
          <a:ln/>
        </p:spPr>
      </p:sp>
      <p:sp>
        <p:nvSpPr>
          <p:cNvPr id="17" name="Text 15"/>
          <p:cNvSpPr/>
          <p:nvPr/>
        </p:nvSpPr>
        <p:spPr>
          <a:xfrm>
            <a:off x="6492240" y="253288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49A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492240" y="3172968"/>
            <a:ext cx="197053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435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Las preguntas correctas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92240" y="3904488"/>
            <a:ext cx="19705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6E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ciencia define qué resolver; la IA lo acelera.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8938260" y="2240280"/>
            <a:ext cx="2473452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9C8"/>
            </a:solidFill>
            <a:prstDash val="solid"/>
          </a:ln>
          <a:effectLst>
            <a:outerShdw sx="100000" sy="100000" kx="0" ky="0" algn="bl" rotWithShape="0" blurRad="1143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9212580" y="2532888"/>
            <a:ext cx="475488" cy="475488"/>
          </a:xfrm>
          <a:prstGeom prst="ellipse">
            <a:avLst/>
          </a:prstGeom>
          <a:solidFill>
            <a:srgbClr val="14352A"/>
          </a:solidFill>
          <a:ln/>
        </p:spPr>
      </p:sp>
      <p:sp>
        <p:nvSpPr>
          <p:cNvPr id="22" name="Text 20"/>
          <p:cNvSpPr/>
          <p:nvPr/>
        </p:nvSpPr>
        <p:spPr>
          <a:xfrm>
            <a:off x="9212580" y="253288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49A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9212580" y="3172968"/>
            <a:ext cx="197053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435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Equipos y cultura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9212580" y="3904488"/>
            <a:ext cx="19705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6E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Talento mixto y cultura de experimentación e innovación.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777240" y="493776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9C7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95 % </a:t>
            </a:r>
            <a:pPr algn="l" indent="0" marL="0">
              <a:buNone/>
            </a:pPr>
            <a:r>
              <a:rPr lang="en-US" sz="1300" dirty="0">
                <a:solidFill>
                  <a:srgbClr val="6E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los pilotos de IA no generan retorno — el problema no es el modelo, es la implementación (MIT, 2025).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777240" y="63825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6E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Universidad Zamorano · Delegación Europa 2026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0771632" y="638251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BF9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658368"/>
            <a:ext cx="237744" cy="237744"/>
          </a:xfrm>
          <a:prstGeom prst="rect">
            <a:avLst/>
          </a:prstGeom>
          <a:solidFill>
            <a:srgbClr val="C49A3F"/>
          </a:solidFill>
          <a:ln/>
        </p:spPr>
      </p:sp>
      <p:sp>
        <p:nvSpPr>
          <p:cNvPr id="3" name="Text 1"/>
          <p:cNvSpPr/>
          <p:nvPr/>
        </p:nvSpPr>
        <p:spPr>
          <a:xfrm>
            <a:off x="1161288" y="64008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9C7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PREPARARSE PARA LO QUE VIENE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777240" y="1078992"/>
            <a:ext cx="10698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1435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 que habrá que saber y desarrollar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777240" y="2240280"/>
            <a:ext cx="2473452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9C8"/>
            </a:solidFill>
            <a:prstDash val="solid"/>
          </a:ln>
          <a:effectLst>
            <a:outerShdw sx="100000" sy="100000" kx="0" ky="0" algn="bl" rotWithShape="0" blurRad="1143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51560" y="2532888"/>
            <a:ext cx="475488" cy="475488"/>
          </a:xfrm>
          <a:prstGeom prst="ellipse">
            <a:avLst/>
          </a:prstGeom>
          <a:solidFill>
            <a:srgbClr val="14352A"/>
          </a:solidFill>
          <a:ln/>
        </p:spPr>
      </p:sp>
      <p:sp>
        <p:nvSpPr>
          <p:cNvPr id="7" name="Text 5"/>
          <p:cNvSpPr/>
          <p:nvPr/>
        </p:nvSpPr>
        <p:spPr>
          <a:xfrm>
            <a:off x="1051560" y="253288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49A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51560" y="3172968"/>
            <a:ext cx="197053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435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Alfabetización de datos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51560" y="3904488"/>
            <a:ext cx="19705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6E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Leer, medir y decidir con datos en cada nivel.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497580" y="2240280"/>
            <a:ext cx="2473452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9C8"/>
            </a:solidFill>
            <a:prstDash val="solid"/>
          </a:ln>
          <a:effectLst>
            <a:outerShdw sx="100000" sy="100000" kx="0" ky="0" algn="bl" rotWithShape="0" blurRad="1143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771900" y="2532888"/>
            <a:ext cx="475488" cy="475488"/>
          </a:xfrm>
          <a:prstGeom prst="ellipse">
            <a:avLst/>
          </a:prstGeom>
          <a:solidFill>
            <a:srgbClr val="14352A"/>
          </a:solidFill>
          <a:ln/>
        </p:spPr>
      </p:sp>
      <p:sp>
        <p:nvSpPr>
          <p:cNvPr id="12" name="Text 10"/>
          <p:cNvSpPr/>
          <p:nvPr/>
        </p:nvSpPr>
        <p:spPr>
          <a:xfrm>
            <a:off x="3771900" y="253288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49A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771900" y="3172968"/>
            <a:ext cx="197053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435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IA aplicada con criterio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771900" y="3904488"/>
            <a:ext cx="19705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6E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Usar la IA — y saber cuestionarla.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217920" y="2240280"/>
            <a:ext cx="2473452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9C8"/>
            </a:solidFill>
            <a:prstDash val="solid"/>
          </a:ln>
          <a:effectLst>
            <a:outerShdw sx="100000" sy="100000" kx="0" ky="0" algn="bl" rotWithShape="0" blurRad="1143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492240" y="2532888"/>
            <a:ext cx="475488" cy="475488"/>
          </a:xfrm>
          <a:prstGeom prst="ellipse">
            <a:avLst/>
          </a:prstGeom>
          <a:solidFill>
            <a:srgbClr val="14352A"/>
          </a:solidFill>
          <a:ln/>
        </p:spPr>
      </p:sp>
      <p:sp>
        <p:nvSpPr>
          <p:cNvPr id="17" name="Text 15"/>
          <p:cNvSpPr/>
          <p:nvPr/>
        </p:nvSpPr>
        <p:spPr>
          <a:xfrm>
            <a:off x="6492240" y="253288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49A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492240" y="3172968"/>
            <a:ext cx="197053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435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Pensamiento científico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92240" y="3904488"/>
            <a:ext cx="19705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6E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Formular hipótesis, experimentar y evidenciar.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8938260" y="2240280"/>
            <a:ext cx="2473452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9C8"/>
            </a:solidFill>
            <a:prstDash val="solid"/>
          </a:ln>
          <a:effectLst>
            <a:outerShdw sx="100000" sy="100000" kx="0" ky="0" algn="bl" rotWithShape="0" blurRad="1143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9212580" y="2532888"/>
            <a:ext cx="475488" cy="475488"/>
          </a:xfrm>
          <a:prstGeom prst="ellipse">
            <a:avLst/>
          </a:prstGeom>
          <a:solidFill>
            <a:srgbClr val="14352A"/>
          </a:solidFill>
          <a:ln/>
        </p:spPr>
      </p:sp>
      <p:sp>
        <p:nvSpPr>
          <p:cNvPr id="22" name="Text 20"/>
          <p:cNvSpPr/>
          <p:nvPr/>
        </p:nvSpPr>
        <p:spPr>
          <a:xfrm>
            <a:off x="9212580" y="253288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49A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9212580" y="3172968"/>
            <a:ext cx="197053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435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Cultura de innovación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9212580" y="3904488"/>
            <a:ext cx="19705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6E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Aprender continuo y apertura a lo nuevo.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777240" y="493776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9C7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+90 % </a:t>
            </a:r>
            <a:pPr algn="l" indent="0" marL="0">
              <a:buNone/>
            </a:pPr>
            <a:r>
              <a:rPr lang="en-US" sz="1300" dirty="0">
                <a:solidFill>
                  <a:srgbClr val="6E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las empresas enfrentará escasez crítica de competencias hacia 2026 — la demanda de talento en IA supera la oferta 3 : 1 (IDC).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777240" y="63825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6E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Universidad Zamorano · Delegación Europa 2026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0771632" y="638251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435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49A3F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8686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C49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POTENCIAL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77240" y="132588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4F0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Hacia dónde mirar: el potencial del agro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777240" y="2697480"/>
            <a:ext cx="5120640" cy="1554480"/>
          </a:xfrm>
          <a:prstGeom prst="rect">
            <a:avLst/>
          </a:prstGeom>
          <a:solidFill>
            <a:srgbClr val="102A20"/>
          </a:solidFill>
          <a:ln w="12700">
            <a:solidFill>
              <a:srgbClr val="2C544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2697480"/>
            <a:ext cx="91440" cy="1554480"/>
          </a:xfrm>
          <a:prstGeom prst="rect">
            <a:avLst/>
          </a:prstGeom>
          <a:solidFill>
            <a:srgbClr val="C49A3F"/>
          </a:solidFill>
          <a:ln/>
        </p:spPr>
      </p:sp>
      <p:sp>
        <p:nvSpPr>
          <p:cNvPr id="7" name="Text 5"/>
          <p:cNvSpPr/>
          <p:nvPr/>
        </p:nvSpPr>
        <p:spPr>
          <a:xfrm>
            <a:off x="1097280" y="29260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4F0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Ciencia basada en datos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097280" y="3447288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C7D3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Investigación y agricultura de precisión, del laboratorio al cultivo.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217920" y="2697480"/>
            <a:ext cx="5120640" cy="1554480"/>
          </a:xfrm>
          <a:prstGeom prst="rect">
            <a:avLst/>
          </a:prstGeom>
          <a:solidFill>
            <a:srgbClr val="102A20"/>
          </a:solidFill>
          <a:ln w="12700">
            <a:solidFill>
              <a:srgbClr val="2C544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17920" y="2697480"/>
            <a:ext cx="91440" cy="1554480"/>
          </a:xfrm>
          <a:prstGeom prst="rect">
            <a:avLst/>
          </a:prstGeom>
          <a:solidFill>
            <a:srgbClr val="C49A3F"/>
          </a:solidFill>
          <a:ln/>
        </p:spPr>
      </p:sp>
      <p:sp>
        <p:nvSpPr>
          <p:cNvPr id="11" name="Text 9"/>
          <p:cNvSpPr/>
          <p:nvPr/>
        </p:nvSpPr>
        <p:spPr>
          <a:xfrm>
            <a:off x="6537960" y="29260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4F0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Educación de vanguardia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6537960" y="3447288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C7D3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al aprendizaje, formando criterio además de conocimiento.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777240" y="4526280"/>
            <a:ext cx="5120640" cy="1554480"/>
          </a:xfrm>
          <a:prstGeom prst="rect">
            <a:avLst/>
          </a:prstGeom>
          <a:solidFill>
            <a:srgbClr val="102A20"/>
          </a:solidFill>
          <a:ln w="12700">
            <a:solidFill>
              <a:srgbClr val="2C544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77240" y="4526280"/>
            <a:ext cx="91440" cy="1554480"/>
          </a:xfrm>
          <a:prstGeom prst="rect">
            <a:avLst/>
          </a:prstGeom>
          <a:solidFill>
            <a:srgbClr val="C49A3F"/>
          </a:solidFill>
          <a:ln/>
        </p:spPr>
      </p:sp>
      <p:sp>
        <p:nvSpPr>
          <p:cNvPr id="15" name="Text 13"/>
          <p:cNvSpPr/>
          <p:nvPr/>
        </p:nvSpPr>
        <p:spPr>
          <a:xfrm>
            <a:off x="1097280" y="47548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4F0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Liderazgo regional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097280" y="5276088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C7D3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Referencia en AgriFoodTech para Centroamérica.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217920" y="4526280"/>
            <a:ext cx="5120640" cy="1554480"/>
          </a:xfrm>
          <a:prstGeom prst="rect">
            <a:avLst/>
          </a:prstGeom>
          <a:solidFill>
            <a:srgbClr val="102A20"/>
          </a:solidFill>
          <a:ln w="12700">
            <a:solidFill>
              <a:srgbClr val="2C544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17920" y="4526280"/>
            <a:ext cx="91440" cy="1554480"/>
          </a:xfrm>
          <a:prstGeom prst="rect">
            <a:avLst/>
          </a:prstGeom>
          <a:solidFill>
            <a:srgbClr val="C49A3F"/>
          </a:solidFill>
          <a:ln/>
        </p:spPr>
      </p:sp>
      <p:sp>
        <p:nvSpPr>
          <p:cNvPr id="19" name="Text 17"/>
          <p:cNvSpPr/>
          <p:nvPr/>
        </p:nvSpPr>
        <p:spPr>
          <a:xfrm>
            <a:off x="6537960" y="47548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4F0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Talento para el futuro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6537960" y="5276088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C7D3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Formar a los profesionales que el agro de las próximas décadas necesita.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777240" y="63825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FB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Universidad Zamorano · Delegación Europa 2026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771632" y="638251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BF9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658368"/>
            <a:ext cx="237744" cy="237744"/>
          </a:xfrm>
          <a:prstGeom prst="rect">
            <a:avLst/>
          </a:prstGeom>
          <a:solidFill>
            <a:srgbClr val="C49A3F"/>
          </a:solidFill>
          <a:ln/>
        </p:spPr>
      </p:sp>
      <p:sp>
        <p:nvSpPr>
          <p:cNvPr id="3" name="Text 1"/>
          <p:cNvSpPr/>
          <p:nvPr/>
        </p:nvSpPr>
        <p:spPr>
          <a:xfrm>
            <a:off x="1161288" y="64008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9C7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FUENTES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777240" y="1078992"/>
            <a:ext cx="10698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1435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Referencias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777240" y="2194560"/>
            <a:ext cx="10634472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143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Tecnología: </a:t>
            </a:r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E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NVIDIA (FY2026) · OpenAI / ChatGPT (2026) · Google DeepMind, AlphaFold — Premio Nobel de Química 2024 (NobelPrize.org) · Microsoft (2026) · Palantir (Q3 2025).</a:t>
            </a:r>
            <a:endParaRPr lang="en-US" sz="1400" dirty="0"/>
          </a:p>
          <a:p>
            <a:pPr algn="l" indent="0" marL="0">
              <a:lnSpc>
                <a:spcPct val="130000"/>
              </a:lnSpc>
              <a:buNone/>
            </a:pPr>
            <a:endParaRPr lang="en-US" sz="14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143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Impacto, eficiencia y futuro: </a:t>
            </a:r>
            <a:endParaRPr lang="en-US" sz="14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E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McKinsey (US$2.6–4.4 billones/año; productividad) · GitHub Copilot / MIT (2024) · BCG (2023) · Gartner, IA agéntica (2025–2026).</a:t>
            </a:r>
            <a:endParaRPr lang="en-US" sz="1400" dirty="0"/>
          </a:p>
          <a:p>
            <a:pPr algn="l" indent="0" marL="0">
              <a:lnSpc>
                <a:spcPct val="130000"/>
              </a:lnSpc>
              <a:buNone/>
            </a:pPr>
            <a:endParaRPr lang="en-US" sz="14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143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Mercado y competencias: </a:t>
            </a:r>
            <a:endParaRPr lang="en-US" sz="14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E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Grand View Research; MarketsandMarkets (mercado agrícola, 2025) · IDC; World Economic Forum, Future of Jobs 2025.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77240" y="63825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6E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Universidad Zamorano · Delegación Europa 2026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771632" y="638251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El presente tecnológico y su potencial</dc:title>
  <dc:subject>PptxGenJS Presentation</dc:subject>
  <dc:creator>Universidad Zamorano</dc:creator>
  <cp:lastModifiedBy>Universidad Zamorano</cp:lastModifiedBy>
  <cp:revision>1</cp:revision>
  <dcterms:created xsi:type="dcterms:W3CDTF">2026-06-19T07:21:29Z</dcterms:created>
  <dcterms:modified xsi:type="dcterms:W3CDTF">2026-06-19T07:21:29Z</dcterms:modified>
</cp:coreProperties>
</file>